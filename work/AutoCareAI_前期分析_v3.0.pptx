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>
                <a:solidFill>
                  <a:srgbClr val="E8EAEF"/>
                </a:solidFill>
              </a:defRPr>
            </a:pPr>
            <a:r>
              <a:t>汽车保有量与平均车龄变迁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保有量(百万辆)</c:v>
                </c:pt>
              </c:strCache>
            </c:strRef>
          </c:tx>
          <c:spPr>
            <a:solidFill>
              <a:srgbClr val="2ECC71"/>
            </a:solidFill>
          </c:spP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2015</c:v>
                </c:pt>
                <c:pt idx="2">
                  <c:v>2018</c:v>
                </c:pt>
                <c:pt idx="3">
                  <c:v>2020</c:v>
                </c:pt>
                <c:pt idx="4">
                  <c:v>2022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11.3</c:v>
                </c:pt>
                <c:pt idx="2">
                  <c:v>12</c:v>
                </c:pt>
                <c:pt idx="3">
                  <c:v>11.8</c:v>
                </c:pt>
                <c:pt idx="4">
                  <c:v>13</c:v>
                </c:pt>
                <c:pt idx="5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平均车龄(年)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2015</c:v>
                </c:pt>
                <c:pt idx="2">
                  <c:v>2018</c:v>
                </c:pt>
                <c:pt idx="3">
                  <c:v>2020</c:v>
                </c:pt>
                <c:pt idx="4">
                  <c:v>2022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txPr>
        <a:bodyPr/>
        <a:lstStyle/>
        <a:p>
          <a:pPr>
            <a:defRPr sz="800">
              <a:solidFill>
                <a:srgbClr val="6B7385"/>
              </a:solidFill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6B7385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>
                <a:solidFill>
                  <a:srgbClr val="E8EAEF"/>
                </a:solidFill>
              </a:defRPr>
            </a:pPr>
            <a:r>
              <a:t>燃油价格飙升（₦/升）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油价 (₦/升)</c:v>
                </c:pt>
              </c:strCache>
            </c:strRef>
          </c:tx>
          <c:spPr>
            <a:ln w="25400">
              <a:solidFill>
                <a:srgbClr val="F0A830"/>
              </a:solidFill>
            </a:ln>
          </c:spPr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2023Q1</c:v>
                </c:pt>
                <c:pt idx="9">
                  <c:v>2023Q2</c:v>
                </c:pt>
                <c:pt idx="10">
                  <c:v>2023Q4</c:v>
                </c:pt>
                <c:pt idx="11">
                  <c:v>2024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87</c:v>
                </c:pt>
                <c:pt idx="1">
                  <c:v>145</c:v>
                </c:pt>
                <c:pt idx="2">
                  <c:v>146</c:v>
                </c:pt>
                <c:pt idx="3">
                  <c:v>146</c:v>
                </c:pt>
                <c:pt idx="4">
                  <c:v>146</c:v>
                </c:pt>
                <c:pt idx="5">
                  <c:v>167</c:v>
                </c:pt>
                <c:pt idx="6">
                  <c:v>170</c:v>
                </c:pt>
                <c:pt idx="7">
                  <c:v>206</c:v>
                </c:pt>
                <c:pt idx="8">
                  <c:v>195</c:v>
                </c:pt>
                <c:pt idx="9">
                  <c:v>557</c:v>
                </c:pt>
                <c:pt idx="10">
                  <c:v>672</c:v>
                </c:pt>
                <c:pt idx="11">
                  <c:v>950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  <c:txPr>
        <a:bodyPr/>
        <a:lstStyle/>
        <a:p>
          <a:pPr>
            <a:defRPr sz="800">
              <a:solidFill>
                <a:srgbClr val="6B738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6B7385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>
                <a:solidFill>
                  <a:srgbClr val="E8EAEF"/>
                </a:solidFill>
              </a:defRPr>
            </a:pPr>
            <a:r>
              <a:t>二手车进口额：量缩价涨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进口额(₦万亿)</c:v>
                </c:pt>
              </c:strCache>
            </c:strRef>
          </c:tx>
          <c:spPr>
            <a:solidFill>
              <a:srgbClr val="3498DB"/>
            </a:solidFill>
          </c:spPr>
          <c:cat>
            <c:strRef>
              <c:f>Sheet1!$A$2:$A$10</c:f>
              <c:strCach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0.145</c:v>
                </c:pt>
                <c:pt idx="1">
                  <c:v>0.269</c:v>
                </c:pt>
                <c:pt idx="2">
                  <c:v>0.58</c:v>
                </c:pt>
                <c:pt idx="3">
                  <c:v>0.65</c:v>
                </c:pt>
                <c:pt idx="4">
                  <c:v>0.52</c:v>
                </c:pt>
                <c:pt idx="5">
                  <c:v>0.31</c:v>
                </c:pt>
                <c:pt idx="6">
                  <c:v>1.47</c:v>
                </c:pt>
                <c:pt idx="7">
                  <c:v>1.26</c:v>
                </c:pt>
                <c:pt idx="8">
                  <c:v>1.58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txPr>
        <a:bodyPr/>
        <a:lstStyle/>
        <a:p>
          <a:pPr>
            <a:defRPr sz="800">
              <a:solidFill>
                <a:srgbClr val="6B7385"/>
              </a:solidFill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6B7385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>
                <a:solidFill>
                  <a:srgbClr val="E8EAEF"/>
                </a:solidFill>
              </a:defRPr>
            </a:pPr>
            <a:r>
              <a:t>网络连接结构变迁（%）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2G</c:v>
                </c:pt>
              </c:strCache>
            </c:strRef>
          </c:tx>
          <c:spPr>
            <a:solidFill>
              <a:srgbClr val="6B7385"/>
            </a:solidFill>
          </c:spP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60</c:v>
                </c:pt>
                <c:pt idx="2">
                  <c:v>50</c:v>
                </c:pt>
                <c:pt idx="3">
                  <c:v>45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3G</c:v>
                </c:pt>
              </c:strCache>
            </c:strRef>
          </c:tx>
          <c:spPr>
            <a:solidFill>
              <a:srgbClr val="8E44AD"/>
            </a:solidFill>
          </c:spP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4G</c:v>
                </c:pt>
              </c:strCache>
            </c:strRef>
          </c:tx>
          <c:spPr>
            <a:solidFill>
              <a:srgbClr val="3498DB"/>
            </a:solidFill>
          </c:spP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28</c:v>
                </c:pt>
                <c:pt idx="3">
                  <c:v>35</c:v>
                </c:pt>
                <c:pt idx="4">
                  <c:v>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5G</c:v>
                </c:pt>
              </c:strCache>
            </c:strRef>
          </c:tx>
          <c:spPr>
            <a:solidFill>
              <a:srgbClr val="2ECC71"/>
            </a:solidFill>
          </c:spPr>
          <c:cat>
            <c:strRef>
              <c:f>Sheet1!$A$2:$A$6</c:f>
              <c:strCache>
                <c:ptCount val="5"/>
                <c:pt idx="0">
                  <c:v>2017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  <c:pt idx="4">
                  <c:v>2025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txPr>
        <a:bodyPr/>
        <a:lstStyle/>
        <a:p>
          <a:pPr>
            <a:defRPr sz="800">
              <a:solidFill>
                <a:srgbClr val="6B7385"/>
              </a:solidFill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6B7385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657600"/>
            <a:ext cx="3657600" cy="3657600"/>
          </a:xfrm>
          <a:prstGeom prst="ellipse">
            <a:avLst/>
          </a:prstGeom>
          <a:solidFill>
            <a:srgbClr val="10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914400"/>
            <a:ext cx="2743200" cy="41148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2ECC71"/>
                </a:solidFill>
                <a:latin typeface="Microsoft YaHei"/>
              </a:defRPr>
            </a:pPr>
            <a:r>
              <a:t>● 尼日利亚 · 创新大赛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让每一辆二手车</a:t>
            </a:r>
            <a:br/>
            <a:r>
              <a:t>都值得信赖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385"/>
                </a:solidFill>
                <a:latin typeface="Microsoft YaHei"/>
              </a:defRPr>
            </a:pPr>
            <a:r>
              <a:t>AutoCare AI 面向尼日利亚 1,400 万车主，融合 AI 诊断、维修师匹配、车辆档案与保养提醒，从问题识别到长期维护，构建二手车信任基础设施。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Microsoft YaHei"/>
              </a:defRPr>
            </a:pPr>
            <a:r>
              <a:t>1,400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汽车保有量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AEF"/>
                </a:solidFill>
                <a:latin typeface="Microsoft YaHei"/>
              </a:defRPr>
            </a:pPr>
            <a:r>
              <a:t>75–95%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二手车占比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AEF"/>
                </a:solidFill>
                <a:latin typeface="Microsoft YaHei"/>
              </a:defRPr>
            </a:pPr>
            <a:r>
              <a:t>45–65%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传音手机覆盖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029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事故与机械故障相关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011680"/>
            <a:ext cx="4114800" cy="2560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8EAEF"/>
                </a:solidFill>
                <a:latin typeface="Microsoft YaHei"/>
              </a:defRPr>
            </a:pPr>
            <a:r>
              <a:t>🔧  AutoCare AI 四合一平台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385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8CCD4"/>
                </a:solidFill>
                <a:latin typeface="Microsoft YaHei"/>
              </a:defRPr>
            </a:pPr>
            <a:r>
              <a:t>AI 音频诊断 → 技师智能匹配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8CCD4"/>
                </a:solidFill>
                <a:latin typeface="Microsoft YaHei"/>
              </a:defRPr>
            </a:pPr>
            <a:r>
              <a:t>车辆数字档案 → 保养主动提醒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B7385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依托传音 Palm Store 预装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直达 1.7 亿月活用户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463040"/>
            <a:ext cx="3291840" cy="36576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ECC71"/>
                </a:solidFill>
                <a:latin typeface="Microsoft YaHei"/>
              </a:defRPr>
            </a:pPr>
            <a:r>
              <a:t>📊 竞品空白：无人整合诊断+维修+档案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937760"/>
            <a:ext cx="2926080" cy="36576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3498DB"/>
                </a:solidFill>
                <a:latin typeface="Microsoft YaHei"/>
              </a:defRPr>
            </a:pPr>
            <a:r>
              <a:t>📱 预装渠道：Tecno/Infinix/Itel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1 /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01 · 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为什么是尼日利亚二手车市场？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非洲最大的二手车市场，2.3 亿人口，1,400 万辆车，维修体系数十年未变——一个等待数字化的蓝海。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03520" cy="21031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303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CC71"/>
                </a:solidFill>
                <a:latin typeface="Microsoft YaHei"/>
              </a:defRPr>
            </a:pPr>
            <a:r>
              <a:t>1,400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全国汽车保有量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75–95% 为进口二手车（Tokunbo），平均车龄 ~14 年。仅 2% 人口能负担新车，年需求 72 万辆 vs 本地产量 1.4 万辆。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来源：NBS, FRSC NVIS, PwC Nigeria, NADDC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5303520" cy="21031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828800"/>
            <a:ext cx="530352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011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74C3C"/>
                </a:solidFill>
                <a:latin typeface="Microsoft YaHei"/>
              </a:defRPr>
            </a:pPr>
            <a:r>
              <a:t>71%+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非正规路边维修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无认证、无标准、无记录。95%+ 维修由路边作坊完成，60%+ 配件不合格，同一故障报价可差 10 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566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来源：Mecho Autotech, SON, FRSC, IndependentNG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60520"/>
            <a:ext cx="5303520" cy="21031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530352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434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498DB"/>
                </a:solidFill>
                <a:latin typeface="Microsoft YaHei"/>
              </a:defRPr>
            </a:pPr>
            <a:r>
              <a:t>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传音手机份额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传音（Tecno/Infinix/Itel）占尼日利亚智能手机 45–65%。Palm Store 月活 1.7 亿，PalmPay 3,500 万用户。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97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来源：Canalys Africa Smartphone Pulse, Transsion Holdings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4160520"/>
            <a:ext cx="5303520" cy="21031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4160520"/>
            <a:ext cx="5303520" cy="45720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3434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830"/>
                </a:solidFill>
                <a:latin typeface="Microsoft YaHei"/>
              </a:defRPr>
            </a:pPr>
            <a:r>
              <a:t>₦900+/升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892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油价飙升驱动修旧如旧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5257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油价从 2015 年 ₦87/升飙升至 2024 年 ₦900–1,200/升（+900%）。车主更倾向修车而非换车——维修需求刚性、高频、不可推迟。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58978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来源：NBS PMS Price Watch, NMDPRA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2 /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02 · 市场数据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关键趋势：车越老、油越贵、进口越难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三个结构性趋势叠加，修车需求持续放大——这是 AutoCare AI 的市场基础。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28800"/>
          <a:ext cx="530352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3931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来源：NBS Road Transport Data, FRSC NVIS, NADDC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828800"/>
          <a:ext cx="530352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750040" y="3931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来源：NBS PMS Price Watch 月度报告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4206240"/>
          <a:ext cx="530352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80760" y="6309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来源：NBS Foreign Trade, NPA Shipping, US CBP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0" y="4206240"/>
          <a:ext cx="530352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750040" y="63093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来源：NCC, GSMA Mobile Economy SSA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3 /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03 · 用户痛点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六大核心痛点，系统性的信任真空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调研覆盖 Lagos 与 Abuja 车主。弱网限制和低付费意愿已归入设计约束，另作讨论。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🔍 车辆问题难判断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060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技师用"试错法"诊断，水泵故障 ₦45k 被报"发动机大修"₦710k。7/10 车主反映被反复误诊。高频：每月 1–3 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737360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474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87451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0574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👨‍🔧 维修师难选择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6060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催化器价值 ₦100 万被偷换成 ₦2.5 万假货。95%+ 维修由非正规技师完成，无认证。全靠熟人推荐——但熟人也不一定懂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4747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87451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💰 报价不透明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0603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同一故障报价差 10 倍，₦600 垫片报 ₦22,000。女性车主报价系统性偏高。技师与配件商勾结，无书面报价单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977639"/>
            <a:ext cx="3474720" cy="36576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14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9767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805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📋 维修记录缺失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修了什么、换了什么——全无记录。"信息黑洞"延续数十年，事故车可轻易流入二手车市场。卖车时买家无从验证车况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59" y="3977639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3977639"/>
            <a:ext cx="3474720" cy="36576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59" y="4114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429767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44805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📅 保养提醒不足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多数车主"开到坏了才修"，小问题拖成大故障。~60% 车主连轮胎气压表都不信任。技师不提醒——修大故障更赚钱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977639"/>
            <a:ext cx="3474720" cy="19659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977639"/>
            <a:ext cx="3474720" cy="36576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114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385"/>
                </a:solidFill>
                <a:latin typeface="Microsoft YaHei"/>
              </a:defRPr>
            </a:pPr>
            <a:r>
              <a:t>痛点 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29767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A83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4805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AEF"/>
                </a:solidFill>
                <a:latin typeface="Microsoft YaHei"/>
              </a:defRPr>
            </a:pPr>
            <a:r>
              <a:t>🔧 假配件泛滥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60%+ 配件不合格。翻新件冒充新件，过期轮胎重新喷漆。正品价三年涨 150–300%。30% 致命事故源于机械故障（FRSC）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solidFill>
            <a:srgbClr val="12161E"/>
          </a:solidFill>
          <a:ln w="127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📐 设计约束（非痛点）：弱网/低端设备限制（2G 仍占 40%+，1GB=₦431）和低付费意愿（月最低工资 ₦70,000）——将在技术方案和商业模式中解决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4 / 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04 · 用户画像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两个核心画像，覆盖最广泛用车场景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Emeka（生存驱动型，车 = 饭碗）+ Chidi（信息弱势型，怕被宰、不懂车）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303520" cy="4937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303520" cy="16459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97480" y="182880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👨🏾‍🦱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AEF"/>
                </a:solidFill>
                <a:latin typeface="Microsoft YaHei"/>
              </a:defRPr>
            </a:pPr>
            <a:r>
              <a:t>Emeka Okonkwo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Lagos · 网约车司机 · 34 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"车是我的饭碗。它不跑，我就没饭吃。我不相信任何技师——但我没有选择。"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家庭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753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已婚，2 个孩子（6 岁、3 岁），妻子在市场卖布料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290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月收入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753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毛收入 ₦300k–400k → 净收入仅 ₦100k–180k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车辆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32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2012 款丰田卡罗拉（Tokunbo），日均 200–250km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手机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32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Tecno Spark 20 · MTN 4G · 3GB/月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工作节奏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89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6:00–21:00，14–15h/天，Bolt+Uber+InDrive 三平台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3434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核心需求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489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🚨 故障分诊 👨‍🔧 靠谱技师 💰 费用透明 📊 收支管理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892040"/>
            <a:ext cx="4754880" cy="594360"/>
          </a:xfrm>
          <a:prstGeom prst="rect">
            <a:avLst/>
          </a:prstGeom>
          <a:solidFill>
            <a:srgbClr val="0F2418"/>
          </a:solidFill>
          <a:ln w="12700">
            <a:solidFill>
              <a:srgbClr val="1A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3775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CC71"/>
                </a:solidFill>
                <a:latin typeface="Microsoft YaHei"/>
              </a:defRPr>
            </a:pPr>
            <a:r>
              <a:t>💡 用户洞察：Emeka 不需要一个工具，他需要一个站在他那边的"汽车顾问"——告诉他车到底怎么了、该花多少钱、该找谁修。生存驱动，高频刚需。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577840"/>
            <a:ext cx="4754880" cy="914400"/>
          </a:xfrm>
          <a:prstGeom prst="rect">
            <a:avLst/>
          </a:prstGeom>
          <a:solidFill>
            <a:srgbClr val="241A0F"/>
          </a:solidFill>
          <a:ln w="127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623559"/>
            <a:ext cx="4389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A830"/>
                </a:solidFill>
                <a:latin typeface="Microsoft YaHei"/>
              </a:defRPr>
            </a:pPr>
            <a:r>
              <a:t>📰 真实证据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06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Bolt/Ipsos 2024：尼日利亚 72 万网约车司机，64% 报告生活质量改善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007607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真实案例 — Noel Onoja：被 mechanic 反复误诊——气流计 ₦5k→喷油嘴 ₦6k→"换大脑板"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20877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Malomo (2024) Lagos 调研：79% 男性，50% 年龄 22–32 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1645920"/>
            <a:ext cx="5303520" cy="4937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1645920"/>
            <a:ext cx="5303520" cy="16459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5319" y="1828800"/>
            <a:ext cx="640080" cy="6400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👨🏾‍💼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79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EAEF"/>
                </a:solidFill>
                <a:latin typeface="Microsoft YaHei"/>
              </a:defRPr>
            </a:pPr>
            <a:r>
              <a:t>Chidi Eze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28346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  <a:latin typeface="Microsoft YaHei"/>
              </a:defRPr>
            </a:pPr>
            <a:r>
              <a:t>Abuja · 日常私家车主 · 38 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"每次修车我都不知道是不是被宰了。我需要一个告诉我'正常价是多少'的人。"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34290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家庭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59" y="35753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已婚，3 个孩子，妻子是小学教师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4290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月收入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5753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家庭月总收入约 ₦380k（他 ₦250k + 妻子 ₦130k）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38862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车辆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59" y="4032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2010 款丰田凯美瑞（Tokunbo），里程 18 万 km，周末兼跑 Bolt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8862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手机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032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Infinix Hot 40 · Airtel 网络 · 2.5GB/月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59" y="43434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修车经历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59" y="4489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换刹车片被收 ₦85k，后来才知道正常价 ₦30k–45k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343400"/>
            <a:ext cx="23774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385"/>
                </a:solidFill>
                <a:latin typeface="Microsoft YaHei"/>
              </a:defRPr>
            </a:pPr>
            <a:r>
              <a:t>核心需求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4897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EAEF"/>
                </a:solidFill>
                <a:latin typeface="Microsoft YaHei"/>
              </a:defRPr>
            </a:pPr>
            <a:r>
              <a:t>💰 报价参考 🔍 故障预判 📅 保养提醒 📋 维修记录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79" y="4892040"/>
            <a:ext cx="4754880" cy="594360"/>
          </a:xfrm>
          <a:prstGeom prst="rect">
            <a:avLst/>
          </a:prstGeom>
          <a:solidFill>
            <a:srgbClr val="0F2418"/>
          </a:solidFill>
          <a:ln w="12700">
            <a:solidFill>
              <a:srgbClr val="1A7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59" y="493775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CC71"/>
                </a:solidFill>
                <a:latin typeface="Microsoft YaHei"/>
              </a:defRPr>
            </a:pPr>
            <a:r>
              <a:t>💡 用户洞察：Chidi 懂一点车——但正因为"懂一点"，他更清楚自己有多容易被骗。他需要一个随时能掏出来的"底价参考"，让他在技师面前有底气说"我查过，正常价不是这样"。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5577840"/>
            <a:ext cx="4754880" cy="914400"/>
          </a:xfrm>
          <a:prstGeom prst="rect">
            <a:avLst/>
          </a:prstGeom>
          <a:solidFill>
            <a:srgbClr val="241A0F"/>
          </a:solidFill>
          <a:ln w="127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5623559"/>
            <a:ext cx="4389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A830"/>
                </a:solidFill>
                <a:latin typeface="Microsoft YaHei"/>
              </a:defRPr>
            </a:pPr>
            <a:r>
              <a:t>📰 真实证据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5806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真实案例 — Star Okigwe：攒 18 个月买车，3 个月即抛锚——"Tokunbo 车从买来第一天就要修"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6007607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Sunday Balogun："我让技师告诉我需要换什么，自己去市场买配件再让他装"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620877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385"/>
                </a:solidFill>
                <a:latin typeface="Microsoft YaHei"/>
              </a:defRPr>
            </a:pPr>
            <a:r>
              <a:t>• Edo State 调研（250 名车主）：56% 维修为机械故障，满意度仅"中等偏上"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5 / 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05 · 用户旅程对比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一条旅程，两个世界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融合真实报道事件——左列"现状"，右列"使用 AutoCare AI 后"。最大情绪差出现在故障判断和长期维护阶段。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solidFill>
            <a:srgbClr val="2A1010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74C3C"/>
                </a:solidFill>
                <a:latin typeface="Microsoft YaHei"/>
              </a:defRPr>
            </a:pPr>
            <a:r>
              <a:t>🔴 现状（无 AutoCare AI）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120640" cy="365760"/>
          </a:xfrm>
          <a:prstGeom prst="rect">
            <a:avLst/>
          </a:prstGeom>
          <a:solidFill>
            <a:srgbClr val="102A15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ECC71"/>
                </a:solidFill>
                <a:latin typeface="Microsoft YaHei"/>
              </a:defRPr>
            </a:pPr>
            <a:r>
              <a:t>🟢 使用 AutoCare AI 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❶ 日常运营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层层抽成，勉强维生</a:t>
            </a:r>
            <a:br/>
            <a:r>
              <a:t>油价 ₦900+/升，平台抽 25%，agbero levy ₦1,500/天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❶ 日常运营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数据驱动，心中有数</a:t>
            </a:r>
            <a:br/>
            <a:r>
              <a:t>AutoCare AI 后台追踪里程+油耗，月末自动生成收支报告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6148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❷ 发现异常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完全看不懂，极度焦虑</a:t>
            </a:r>
            <a:br/>
            <a:r>
              <a:t>靠边打开引擎盖——完全看不懂。"还能接单吗？"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4320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76148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❷ 发现异常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2 分钟，3MB，搞定</a:t>
            </a:r>
            <a:br/>
            <a:r>
              <a:t>录制 30 秒音频 + 拍仪表盘照片，2 分钟完成诊断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7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0156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❸ 故障判断 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84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猜谜式诊断，花冤枉钱</a:t>
            </a:r>
            <a:br/>
            <a:r>
              <a:t>Noel Onoja：换气流计 ₦5k→无效→换喷油嘴 ₦6k→仍无效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38327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401568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❸ 故障判断 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84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15 秒出结果，⚡ 核心价值</a:t>
            </a:r>
            <a:br/>
            <a:r>
              <a:t>🟡 85% 概率水泵轴承磨损，预估 ₦35k–55k，非紧急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2335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4164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❹ 找技师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2452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熟人推荐 = 随机赌博</a:t>
            </a:r>
            <a:br/>
            <a:r>
              <a:t>WhatsApp 群问"谁认识靠谱 mechanic？"——等于赌博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02335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04164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❹ 找技师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2452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四维匹配，一键预约</a:t>
            </a:r>
            <a:br/>
            <a:r>
              <a:t>推荐 3 家评分 4.5+，按距离+评分+专长+估价排序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66344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68172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❺ 到店维修 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86460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无价格参照，无法质疑</a:t>
            </a:r>
            <a:br/>
            <a:r>
              <a:t>Sunday Balogun："我自己买配件再让技师装——再也不信技师代买"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66344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68172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❺ 到店维修 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双重信任，安心交车</a:t>
            </a:r>
            <a:br/>
            <a:r>
              <a:t>技师确认："You're right, na water pump." 报价在预估范围内 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30352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32180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❻ 记录与评价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504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零记录，"信息黑洞"</a:t>
            </a:r>
            <a:br/>
            <a:r>
              <a:t>Timothy Raphael：修完无记录，三月后同问题复发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303520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32180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❻ 记录与评价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504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一键存档，数字档案</a:t>
            </a:r>
            <a:br/>
            <a:r>
              <a:t>拍照 OCR 自动提取 → 维修记录存入车辆数字档案，卖车 = 溢价凭证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94359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96188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  <a:latin typeface="Microsoft YaHei"/>
              </a:defRPr>
            </a:pPr>
            <a:r>
              <a:t>❼ 长期维护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614476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开坏了才修，没人关心你的车</a:t>
            </a:r>
            <a:br/>
            <a:r>
              <a:t>~60% 车主连气压表都不信任。30% 致命事故与机械故障有关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943599"/>
            <a:ext cx="5120640" cy="5943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5961887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❼ 长期维护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614476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385"/>
                </a:solidFill>
                <a:latin typeface="Microsoft YaHei"/>
              </a:defRPr>
            </a:pPr>
            <a:r>
              <a:t>从"修车工具"到"养车管家"</a:t>
            </a:r>
            <a:br/>
            <a:r>
              <a:t>3 个月后推送保养提醒→一键预约。"比我自己还清楚我的车。" 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❶ 日常运营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❷ 发现异常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❸ 故障判断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❹ 找技师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❺ 到店维修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❻ 记录评价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65836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50" b="1">
                <a:solidFill>
                  <a:srgbClr val="E8EAEF"/>
                </a:solidFill>
                <a:latin typeface="Microsoft YaHei"/>
              </a:defRPr>
            </a:pPr>
            <a:r>
              <a:t>❼ 长期维护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58368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6B7385"/>
                </a:solidFill>
                <a:latin typeface="Microsoft YaHei"/>
              </a:defRPr>
            </a:pPr>
          </a:p>
        </p:txBody>
      </p:sp>
      <p:sp>
        <p:nvSpPr>
          <p:cNvPr id="58" name="Rectangle 57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06 ·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没有直接竞品——但窗口不会永远敞开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现有玩家各做一段，无人整合"诊断 + 匹配 + 档案 + 提醒"全链条。传音渠道 + 弱网优先 = 为尼日利亚而建。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182880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代表产品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AI 诊断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技师匹配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车辆档案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保养提醒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弱网优化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8288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传音预装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109728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在线交易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286000"/>
            <a:ext cx="182880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Jiji Cars, Cars45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28600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97480"/>
            <a:ext cx="109728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配件商城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697480"/>
            <a:ext cx="182880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Jiji, Ladipo 线上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269748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108960"/>
            <a:ext cx="109728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技师目录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108960"/>
            <a:ext cx="182880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Carlots.ng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310896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520440"/>
            <a:ext cx="109728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通用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3520440"/>
            <a:ext cx="182880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ChatGPT, Gemini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⚠ 泛化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8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352044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传统线下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3931920"/>
            <a:ext cx="182880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Ladipo/Apo 集群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⚠ 熟人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3931920"/>
            <a:ext cx="1051560" cy="36576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343400"/>
            <a:ext cx="109728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叫车平台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4343400"/>
            <a:ext cx="182880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C8CCD4"/>
                </a:solidFill>
                <a:latin typeface="Microsoft YaHei"/>
              </a:defRPr>
            </a:pPr>
            <a:r>
              <a:t>Uber/Bolt 内置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8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15400" y="4343400"/>
            <a:ext cx="1051560" cy="36576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B7385"/>
                </a:solidFill>
                <a:latin typeface="Microsoft YaHei"/>
              </a:defRPr>
            </a:pPr>
            <a:r>
              <a:t>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4754880"/>
            <a:ext cx="109728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AutoCare AI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4754880"/>
            <a:ext cx="182880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8EAEF"/>
                </a:solidFill>
                <a:latin typeface="Microsoft YaHei"/>
              </a:defRPr>
            </a:pPr>
            <a:r>
              <a:t>本项目 ·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0916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1228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15400" y="4754880"/>
            <a:ext cx="1051560" cy="411480"/>
          </a:xfrm>
          <a:prstGeom prst="rect">
            <a:avLst/>
          </a:prstGeom>
          <a:solidFill>
            <a:srgbClr val="102419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solidFill>
            <a:srgbClr val="181C26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🎯 核心差异化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AEF"/>
                </a:solidFill>
                <a:latin typeface="Microsoft YaHei"/>
              </a:defRPr>
            </a:pPr>
            <a:r>
              <a:t>AI 诊断 × 技师匹配 × 车辆档案 × 保养提醒——四位一体，而非单独一个功能。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AEF"/>
                </a:solidFill>
                <a:latin typeface="Microsoft YaHei"/>
              </a:defRPr>
            </a:pPr>
            <a:r>
              <a:t>📱 传音系统预装 + Palm Store 分发——获客成本远低于独立 App。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EAEF"/>
                </a:solidFill>
                <a:latin typeface="Microsoft YaHei"/>
              </a:defRPr>
            </a:pPr>
            <a:r>
              <a:t>🌍 弱网/低端设备优先——为尼日利亚的现实而设计，不为硅谷的 5G 用户设计。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7 / 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07 · 愿景与下一步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AEF"/>
                </a:solidFill>
                <a:latin typeface="Microsoft YaHei"/>
              </a:defRPr>
            </a:pPr>
            <a:r>
              <a:t>从"修车工具"到"车辆全生命周期管家"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385"/>
                </a:solidFill>
                <a:latin typeface="Microsoft YaHei"/>
              </a:defRPr>
            </a:pPr>
            <a:r>
              <a:t>终极愿景：尼日利亚版"Carfax + 大众点评修车版 + 车主管家"——覆盖车辆全生命周期的数据平台。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CC71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数字车辆档案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自动累积维修记录 + 保养记录 + 事故记录 + 里程 + 费用统计。二手车交易时一键生成 AutoCare 车辆健康报告（Carfax 模式），成为买卖双方的信任凭证。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3474720" cy="201168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CC71"/>
                </a:solidFill>
                <a:latin typeface="Microsoft YaHei"/>
              </a:defRPr>
            </a:pPr>
            <a: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金融科技合作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与 FairMoney（车辆融资）、UBA（$1 亿 Drive-to-Own 计划）合作，用车况数据做风控——谁掌握车辆完整数据，谁就掌握二手车交易定价权。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474720" cy="201168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ECC71"/>
                </a:solidFill>
                <a:latin typeface="Microsoft YaHei"/>
              </a:defRPr>
            </a:pPr>
            <a:r>
              <a:t>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AEF"/>
                </a:solidFill>
                <a:latin typeface="Microsoft YaHei"/>
              </a:defRPr>
            </a:pPr>
            <a:r>
              <a:t>传音生态协同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Palm Store 预装直达 1.7 亿 MAU → PalmPay 3,500 万用户小额支付 → Carlcare 1,200+ 服务中心作为线下诊断核验节点——线上线下打通。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EAEF"/>
                </a:solidFill>
                <a:latin typeface="Microsoft YaHei"/>
              </a:defRPr>
            </a:pPr>
            <a:r>
              <a:t>🔑 关键假设与验证优先级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731520" cy="338328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572000"/>
            <a:ext cx="4114800" cy="338328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假设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572000"/>
            <a:ext cx="5852160" cy="338328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EAEF"/>
                </a:solidFill>
                <a:latin typeface="Microsoft YaHei"/>
              </a:defRPr>
            </a:pPr>
            <a:r>
              <a:t>验证方式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83480"/>
            <a:ext cx="73152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74C3C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4983480"/>
            <a:ext cx="411480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网约车司机愿意为"减少停工"付费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983480"/>
            <a:ext cx="585216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与 Lagos AUATON 工会合作，问卷 + 深度访谈 50 名司机，A/B 定价测试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76088"/>
            <a:ext cx="73152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74C3C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276088"/>
            <a:ext cx="411480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AI 音频诊断在老旧二手车上的准确率可达 80%+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5276088"/>
            <a:ext cx="585216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在 Lagos 与 10 家合作技师采集 500+ 真实故障音频样本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68696"/>
            <a:ext cx="73152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74C3C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568696"/>
            <a:ext cx="411480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传音 Palm Store 预装可带来显著低成本获客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5568696"/>
            <a:ext cx="585216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与传音商务团队初步沟通合作可行性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61304"/>
            <a:ext cx="73152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0A830"/>
                </a:solidFill>
                <a:latin typeface="Microsoft YaHei"/>
              </a:defRPr>
            </a:pPr>
            <a:r>
              <a:t>🟡 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861304"/>
            <a:ext cx="411480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技师愿意接受平台评价和价格透明化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5861304"/>
            <a:ext cx="585216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在 Lagos Ikeja/Apapa 邀请 20 位技师深度访谈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153912"/>
            <a:ext cx="73152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0A830"/>
                </a:solidFill>
                <a:latin typeface="Microsoft YaHei"/>
              </a:defRPr>
            </a:pPr>
            <a:r>
              <a:t>🟡 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6153912"/>
            <a:ext cx="411480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用户会在维修后主动录入维修记录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6153912"/>
            <a:ext cx="5852160" cy="274320"/>
          </a:xfrm>
          <a:prstGeom prst="rect">
            <a:avLst/>
          </a:prstGeom>
          <a:solidFill>
            <a:srgbClr val="181C26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MVP 设计拍照 OCR + 技师端确认双通道，测试 30 天留存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446520"/>
            <a:ext cx="73152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2ECC71"/>
                </a:solidFill>
                <a:latin typeface="Microsoft YaHei"/>
              </a:defRPr>
            </a:pPr>
            <a:r>
              <a:t>🟢 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6446520"/>
            <a:ext cx="411480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保养提醒可显著提升用户留存和复购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6446520"/>
            <a:ext cx="5852160" cy="274320"/>
          </a:xfrm>
          <a:prstGeom prst="rect">
            <a:avLst/>
          </a:prstGeom>
          <a:solidFill>
            <a:srgbClr val="12161E"/>
          </a:solidFill>
          <a:ln w="12700">
            <a:solidFill>
              <a:srgbClr val="25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>
                <a:solidFill>
                  <a:srgbClr val="C8CCD4"/>
                </a:solidFill>
                <a:latin typeface="Microsoft YaHei"/>
              </a:defRPr>
            </a:pPr>
            <a:r>
              <a:t>MVP 做 A/B 测试（有提醒 vs 无提醒），对比 90 天留存率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Microsoft YaHei"/>
              </a:defRPr>
            </a:pPr>
            <a:r>
              <a:t>8 /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20840"/>
            <a:ext cx="12191695" cy="18288"/>
          </a:xfrm>
          <a:prstGeom prst="rect">
            <a:avLst/>
          </a:prstGeom>
          <a:solidFill>
            <a:srgbClr val="25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CC71"/>
                </a:solidFill>
                <a:latin typeface="Microsoft YaHei"/>
              </a:defRPr>
            </a:pPr>
            <a:r>
              <a:t>🚗 AutoCare AI — 尼日利亚二手车维护助手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385"/>
                </a:solidFill>
                <a:latin typeface="Microsoft YaHei"/>
              </a:defRPr>
            </a:pPr>
            <a:r>
              <a:t>前期分析 v3.0 · 数据跨度 2010–2025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385"/>
                </a:solidFill>
                <a:latin typeface="Microsoft YaHei"/>
              </a:defRPr>
            </a:pPr>
            <a:r>
              <a:t>完整数据来源见《AutoCareAI_前期分析.md》附录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385"/>
                </a:solidFill>
                <a:latin typeface="Microsoft YaHei"/>
              </a:defRPr>
            </a:pPr>
            <a:r>
              <a:t>© 2026 AutoCare AI 团队 · 创新大赛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